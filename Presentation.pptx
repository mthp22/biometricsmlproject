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F6C3A9-649F-5530-C197-C2A1129C36B8}" v="1402" dt="2024-05-21T08:58:37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600" b="1" dirty="0">
                <a:solidFill>
                  <a:srgbClr val="FF0000"/>
                </a:solidFill>
                <a:latin typeface="Times New Roman"/>
                <a:cs typeface="Times New Roman"/>
              </a:rPr>
              <a:t>Machine Learning: Forecasting FIFA Player’s Overall Rating</a:t>
            </a:r>
            <a:endParaRPr lang="en-US" sz="3600" b="1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Content Placeholder 3" descr="Foosball football players">
            <a:extLst>
              <a:ext uri="{FF2B5EF4-FFF2-40B4-BE49-F238E27FC236}">
                <a16:creationId xmlns:a16="http://schemas.microsoft.com/office/drawing/2014/main" id="{B0F96F3D-6CC6-C8B7-7A70-177564F56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83509"/>
            <a:ext cx="10515600" cy="3235569"/>
          </a:xfr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Overview 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DE621-A2E6-584D-7DA7-368B0399D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Introduction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Task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Similar Work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Experiment setup (data, methods, metrics)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Results (plots are important, along with incorrect predictions)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Conclusion (Impact of work and contributions)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624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DE621-A2E6-584D-7DA7-368B0399D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Modern sports use statistical data analysis.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Higher demand for accurate 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Zebra Technologies , NFL, introducing RFID</a:t>
            </a:r>
          </a:p>
          <a:p>
            <a:r>
              <a:rPr lang="en-US" dirty="0"/>
              <a:t>Importance of player's overall rating in FIFA games</a:t>
            </a:r>
          </a:p>
          <a:p>
            <a:r>
              <a:rPr lang="en-US" dirty="0"/>
              <a:t>Accurate player's stats improves sports betting</a:t>
            </a:r>
          </a:p>
          <a:p>
            <a:r>
              <a:rPr lang="en-US" dirty="0"/>
              <a:t>Solution domain: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Physical : Limited to none applications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Virtual : 1. Data analytics platforms</a:t>
            </a:r>
          </a:p>
          <a:p>
            <a:r>
              <a:rPr lang="en-US" dirty="0"/>
              <a:t>      2. Simulation environments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50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DE621-A2E6-584D-7DA7-368B0399D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 team and player data to predict future player's overall rating</a:t>
            </a:r>
          </a:p>
          <a:p>
            <a:r>
              <a:rPr lang="en-US" dirty="0"/>
              <a:t>Investigate which ML algorithms are suited for context and dataset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Pipeline 1 : Random Forest Regressor XGBoost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Pipeline 2: Support Vector Machine Neural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196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Similar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DE621-A2E6-584D-7DA7-368B0399D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err="1">
                <a:latin typeface="Aptos"/>
                <a:ea typeface="+mn-lt"/>
                <a:cs typeface="Arial"/>
              </a:rPr>
              <a:t>Giannakoulas</a:t>
            </a:r>
            <a:r>
              <a:rPr lang="en-US" dirty="0">
                <a:latin typeface="Aptos"/>
                <a:ea typeface="+mn-lt"/>
                <a:cs typeface="Arial"/>
              </a:rPr>
              <a:t>, Papageorgiou and </a:t>
            </a:r>
            <a:r>
              <a:rPr lang="en-US" err="1">
                <a:latin typeface="Aptos"/>
                <a:ea typeface="+mn-lt"/>
                <a:cs typeface="Arial"/>
              </a:rPr>
              <a:t>Tjortjis</a:t>
            </a:r>
            <a:r>
              <a:rPr lang="en-US" dirty="0">
                <a:latin typeface="Aptos"/>
                <a:ea typeface="+mn-lt"/>
                <a:cs typeface="Arial"/>
              </a:rPr>
              <a:t> predicted the expected  number of goals :</a:t>
            </a:r>
          </a:p>
          <a:p>
            <a:pPr lvl="1"/>
            <a:r>
              <a:rPr lang="en-US" dirty="0">
                <a:latin typeface="Aptos"/>
                <a:ea typeface="+mn-lt"/>
                <a:cs typeface="Arial"/>
              </a:rPr>
              <a:t> Random Forest, Linear Regression and Multilayer Perceptron.  </a:t>
            </a:r>
          </a:p>
          <a:p>
            <a:pPr lvl="1"/>
            <a:r>
              <a:rPr lang="en-US" dirty="0">
                <a:latin typeface="Aptos"/>
                <a:ea typeface="+mn-lt"/>
                <a:cs typeface="Arial"/>
              </a:rPr>
              <a:t>LR was the best algorithm with a Mean Absolute Error (MAE) of 7.06 [14]. </a:t>
            </a:r>
            <a:endParaRPr lang="en-US">
              <a:latin typeface="Aptos"/>
            </a:endParaRPr>
          </a:p>
          <a:p>
            <a:r>
              <a:rPr lang="en-US" dirty="0">
                <a:latin typeface="Aptos"/>
                <a:cs typeface="Arial"/>
              </a:rPr>
              <a:t>Yu et.al. Predicted the game result in CSL:</a:t>
            </a:r>
          </a:p>
          <a:p>
            <a:pPr lvl="1"/>
            <a:r>
              <a:rPr lang="en-US" dirty="0">
                <a:latin typeface="Aptos"/>
                <a:cs typeface="Arial"/>
              </a:rPr>
              <a:t>Random Forest, Linear Regression and SVM</a:t>
            </a:r>
          </a:p>
          <a:p>
            <a:pPr lvl="1"/>
            <a:r>
              <a:rPr lang="en-US" dirty="0">
                <a:latin typeface="Aptos"/>
                <a:cs typeface="Arial"/>
              </a:rPr>
              <a:t>SVM had an 85% accuracy</a:t>
            </a: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5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Similar Work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DE621-A2E6-584D-7DA7-368B0399D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Delano Ramdas </a:t>
            </a:r>
            <a:r>
              <a:rPr lang="en-US" dirty="0">
                <a:ea typeface="+mn-lt"/>
                <a:cs typeface="+mn-lt"/>
              </a:rPr>
              <a:t>predicted performance of footballers in Fantasy Premier League:</a:t>
            </a:r>
            <a:endParaRPr lang="en-US" dirty="0"/>
          </a:p>
          <a:p>
            <a:pPr lvl="1"/>
            <a:r>
              <a:rPr lang="en-US" dirty="0"/>
              <a:t>CNN with time-series input data </a:t>
            </a:r>
            <a:r>
              <a:rPr lang="en-US" dirty="0">
                <a:ea typeface="+mn-lt"/>
                <a:cs typeface="+mn-lt"/>
              </a:rPr>
              <a:t>LSTM</a:t>
            </a:r>
            <a:r>
              <a:rPr lang="en-US" dirty="0"/>
              <a:t> RNN</a:t>
            </a:r>
          </a:p>
          <a:p>
            <a:pPr lvl="1"/>
            <a:r>
              <a:rPr lang="en-US" dirty="0"/>
              <a:t>CNN</a:t>
            </a:r>
            <a:r>
              <a:rPr lang="en-US" dirty="0">
                <a:ea typeface="+mn-lt"/>
                <a:cs typeface="+mn-lt"/>
              </a:rPr>
              <a:t> a lower MSE average value of 1.35 while other models averaged 8.36</a:t>
            </a:r>
          </a:p>
        </p:txBody>
      </p:sp>
    </p:spTree>
    <p:extLst>
      <p:ext uri="{BB962C8B-B14F-4D97-AF65-F5344CB8AC3E}">
        <p14:creationId xmlns:p14="http://schemas.microsoft.com/office/powerpoint/2010/main" val="2324809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DE621-A2E6-584D-7DA7-368B0399D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Dataset: EA Sports FIFA 2018 to 2023 consolidated dataset.</a:t>
            </a:r>
          </a:p>
          <a:p>
            <a:r>
              <a:rPr lang="en-US" dirty="0"/>
              <a:t>Methods: Neural Network SVM  Random Forest Regressor </a:t>
            </a:r>
            <a:r>
              <a:rPr lang="en-US" dirty="0" err="1"/>
              <a:t>XBGBoost</a:t>
            </a:r>
            <a:r>
              <a:rPr lang="en-US" dirty="0"/>
              <a:t> </a:t>
            </a:r>
          </a:p>
          <a:p>
            <a:r>
              <a:rPr lang="en-US" dirty="0"/>
              <a:t>Metrics: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Training and Testing accuracy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Mean Absolute Value (MAE) and R-squared value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Macro Precision, Macro Recall, F1 score</a:t>
            </a:r>
          </a:p>
        </p:txBody>
      </p:sp>
    </p:spTree>
    <p:extLst>
      <p:ext uri="{BB962C8B-B14F-4D97-AF65-F5344CB8AC3E}">
        <p14:creationId xmlns:p14="http://schemas.microsoft.com/office/powerpoint/2010/main" val="298882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6451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Results (Pipeline 1</a:t>
            </a:r>
            <a:r>
              <a:rPr lang="en-US" dirty="0">
                <a:solidFill>
                  <a:srgbClr val="FF0000"/>
                </a:solidFill>
              </a:rPr>
              <a:t> : Random Forest Regressor</a:t>
            </a:r>
            <a:r>
              <a:rPr lang="en-US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)</a:t>
            </a:r>
            <a:endParaRPr lang="en-US" kern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" name="Content Placeholder 3" descr="A graph with blue dots and black dotted lines&#10;&#10;Description automatically generated">
            <a:extLst>
              <a:ext uri="{FF2B5EF4-FFF2-40B4-BE49-F238E27FC236}">
                <a16:creationId xmlns:a16="http://schemas.microsoft.com/office/drawing/2014/main" id="{608329BB-A0A8-825D-3511-0738CABB6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9" y="854003"/>
            <a:ext cx="5972034" cy="5782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92A634-81E7-ADC9-EE9B-E974AEA61E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0" t="-110" r="4565" b="321"/>
          <a:stretch/>
        </p:blipFill>
        <p:spPr>
          <a:xfrm>
            <a:off x="5465212" y="3095177"/>
            <a:ext cx="6542402" cy="355256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E8D3E35-D384-7E29-24F7-BA021D7370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489" b="49901"/>
          <a:stretch/>
        </p:blipFill>
        <p:spPr>
          <a:xfrm>
            <a:off x="5462318" y="636018"/>
            <a:ext cx="5494861" cy="245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8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15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Results (Pipeline 1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err="1">
                <a:solidFill>
                  <a:srgbClr val="FF0000"/>
                </a:solidFill>
              </a:rPr>
              <a:t>XGBoost</a:t>
            </a:r>
            <a:r>
              <a:rPr lang="en-US" dirty="0">
                <a:solidFill>
                  <a:srgbClr val="FF0000"/>
                </a:solidFill>
              </a:rPr>
              <a:t> Regressor </a:t>
            </a:r>
            <a:r>
              <a:rPr lang="en-US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)</a:t>
            </a:r>
            <a:endParaRPr lang="en-US" kern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716CD2A-ECE0-3412-E42E-F85117034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7" r="6277"/>
          <a:stretch/>
        </p:blipFill>
        <p:spPr>
          <a:xfrm>
            <a:off x="-135" y="738258"/>
            <a:ext cx="6225653" cy="6114454"/>
          </a:xfr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2046914C-812F-1B33-7B8C-BF3DD4E611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081" r="891" b="-403"/>
          <a:stretch/>
        </p:blipFill>
        <p:spPr>
          <a:xfrm>
            <a:off x="6222521" y="737289"/>
            <a:ext cx="5135427" cy="26783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176D8F-48F6-5FD2-8120-5F4AA598BD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" t="-66" r="11702" b="-220"/>
          <a:stretch/>
        </p:blipFill>
        <p:spPr>
          <a:xfrm>
            <a:off x="6223599" y="3425675"/>
            <a:ext cx="5858895" cy="342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773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15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Results (Pipeline </a:t>
            </a:r>
            <a:r>
              <a:rPr lang="en-US" dirty="0">
                <a:solidFill>
                  <a:srgbClr val="FF0000"/>
                </a:solidFill>
              </a:rPr>
              <a:t>2: SVM </a:t>
            </a:r>
            <a:r>
              <a:rPr lang="en-US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)</a:t>
            </a:r>
            <a:endParaRPr lang="en-US" kern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Picture 2" descr="A graph showing the difference between true values&#10;&#10;Description automatically generated">
            <a:extLst>
              <a:ext uri="{FF2B5EF4-FFF2-40B4-BE49-F238E27FC236}">
                <a16:creationId xmlns:a16="http://schemas.microsoft.com/office/drawing/2014/main" id="{651CD22B-8B8C-ECB9-90F9-8BA7B4C31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63" y="738098"/>
            <a:ext cx="6391275" cy="5956898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A3CA3EA-EA10-8A1A-CDE5-D24E26DA7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392" y="733336"/>
            <a:ext cx="5855179" cy="2314575"/>
          </a:xfrm>
          <a:prstGeom prst="rect">
            <a:avLst/>
          </a:prstGeom>
        </p:spPr>
      </p:pic>
      <p:pic>
        <p:nvPicPr>
          <p:cNvPr id="7" name="Picture 6" descr="A diagram of confusion matrix&#10;&#10;Description automatically generated">
            <a:extLst>
              <a:ext uri="{FF2B5EF4-FFF2-40B4-BE49-F238E27FC236}">
                <a16:creationId xmlns:a16="http://schemas.microsoft.com/office/drawing/2014/main" id="{E2C89660-13E5-13F5-9986-B156DACA3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931" y="3048449"/>
            <a:ext cx="5854100" cy="380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2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15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Results (Pipeline </a:t>
            </a:r>
            <a:r>
              <a:rPr lang="en-US" dirty="0">
                <a:solidFill>
                  <a:srgbClr val="FF0000"/>
                </a:solidFill>
              </a:rPr>
              <a:t>2: Neural Network </a:t>
            </a:r>
            <a:r>
              <a:rPr lang="en-US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)</a:t>
            </a:r>
            <a:endParaRPr lang="en-US" kern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5" name="Picture 4" descr="A graph showing the difference between true values and true values&#10;&#10;Description automatically generated">
            <a:extLst>
              <a:ext uri="{FF2B5EF4-FFF2-40B4-BE49-F238E27FC236}">
                <a16:creationId xmlns:a16="http://schemas.microsoft.com/office/drawing/2014/main" id="{7AF82223-DC31-8436-CD5A-A5768DA72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1" r="4800" b="2815"/>
          <a:stretch/>
        </p:blipFill>
        <p:spPr>
          <a:xfrm>
            <a:off x="337687" y="734414"/>
            <a:ext cx="5755329" cy="5760302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0146137-CE2E-3038-61C0-2831B1B42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719" y="732257"/>
            <a:ext cx="5260675" cy="2345487"/>
          </a:xfrm>
          <a:prstGeom prst="rect">
            <a:avLst/>
          </a:prstGeom>
        </p:spPr>
      </p:pic>
      <p:pic>
        <p:nvPicPr>
          <p:cNvPr id="7" name="Picture 6" descr="A graph of training and validation loss&#10;&#10;Description automatically generated">
            <a:extLst>
              <a:ext uri="{FF2B5EF4-FFF2-40B4-BE49-F238E27FC236}">
                <a16:creationId xmlns:a16="http://schemas.microsoft.com/office/drawing/2014/main" id="{ABA4E3DC-B36C-F541-12A4-F1C524F0E4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322" b="-345"/>
          <a:stretch/>
        </p:blipFill>
        <p:spPr>
          <a:xfrm>
            <a:off x="6108759" y="3082685"/>
            <a:ext cx="6081330" cy="376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7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8AEA-C87A-C287-4273-538C5A51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DE621-A2E6-584D-7DA7-368B0399D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SVM well trained for predicting a player's overall value</a:t>
            </a:r>
          </a:p>
          <a:p>
            <a:r>
              <a:rPr lang="en-US" dirty="0"/>
              <a:t>Contributions: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Insights into overfitting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New evaluation metrics to football context</a:t>
            </a:r>
          </a:p>
          <a:p>
            <a:r>
              <a:rPr lang="en-US" dirty="0"/>
              <a:t>Impact of work: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Enhanced decision-making (Sports betting, FPL)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Performance Optimization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34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Machine Learning: Forecasting FIFA Player’s Overall Rating</vt:lpstr>
      <vt:lpstr>Overview </vt:lpstr>
      <vt:lpstr>Introduction</vt:lpstr>
      <vt:lpstr>Task</vt:lpstr>
      <vt:lpstr>Similar Work</vt:lpstr>
      <vt:lpstr>Similar Work (Continued)</vt:lpstr>
      <vt:lpstr>Experiment Setup</vt:lpstr>
      <vt:lpstr>Results (Pipeline 1 : Random Forest Regressor)</vt:lpstr>
      <vt:lpstr>Results (Pipeline 1: XGBoost Regressor )</vt:lpstr>
      <vt:lpstr>Results (Pipeline 2: SVM )</vt:lpstr>
      <vt:lpstr>Results (Pipeline 2: Neural Network 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449</cp:revision>
  <dcterms:created xsi:type="dcterms:W3CDTF">2024-05-21T06:19:41Z</dcterms:created>
  <dcterms:modified xsi:type="dcterms:W3CDTF">2024-05-21T10:34:46Z</dcterms:modified>
</cp:coreProperties>
</file>